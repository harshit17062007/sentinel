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1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46120" y="713232"/>
            <a:ext cx="1417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CraftnCode2.0</a:t>
            </a:r>
            <a:endParaRPr lang="en-US" sz="9200" dirty="0"/>
          </a:p>
        </p:txBody>
      </p:sp>
      <p:sp>
        <p:nvSpPr>
          <p:cNvPr id="4" name="Text 1"/>
          <p:cNvSpPr/>
          <p:nvPr/>
        </p:nvSpPr>
        <p:spPr>
          <a:xfrm>
            <a:off x="2606040" y="3520440"/>
            <a:ext cx="1499616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4000"/>
              </a:lnSpc>
              <a:spcAft>
                <a:spcPts val="3400"/>
              </a:spcAft>
              <a:buSzPct val="100000"/>
              <a:buChar char="▪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– </a:t>
            </a:r>
            <a:r>
              <a:rPr lang="en-US" sz="3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IoT Scanner – Vulnerability Audit</a:t>
            </a:r>
            <a:endParaRPr lang="en-US" sz="3200" dirty="0">
              <a:solidFill>
                <a:schemeClr val="bg2"/>
              </a:solidFill>
            </a:endParaRPr>
          </a:p>
          <a:p>
            <a:pPr marL="342900" indent="-342900">
              <a:lnSpc>
                <a:spcPct val="100000"/>
              </a:lnSpc>
              <a:spcAft>
                <a:spcPts val="3400"/>
              </a:spcAft>
              <a:buSzPct val="100000"/>
              <a:buChar char="▪"/>
            </a:pPr>
            <a:r>
              <a:rPr lang="en-US" sz="3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– </a:t>
            </a:r>
            <a:r>
              <a:rPr lang="en-IN" sz="3200">
                <a:solidFill>
                  <a:schemeClr val="bg2"/>
                </a:solidFill>
              </a:rPr>
              <a:t>Autonomous </a:t>
            </a:r>
            <a:r>
              <a:rPr lang="en-IN" sz="3200" dirty="0">
                <a:solidFill>
                  <a:schemeClr val="bg2"/>
                </a:solidFill>
              </a:rPr>
              <a:t>IoT Discovery — Automatically identify and register municipal IoT devices</a:t>
            </a:r>
            <a:endParaRPr lang="en-US" sz="3200" dirty="0">
              <a:solidFill>
                <a:schemeClr val="bg2"/>
              </a:solidFill>
            </a:endParaRPr>
          </a:p>
          <a:p>
            <a:pPr marL="342900" indent="-342900" algn="l">
              <a:lnSpc>
                <a:spcPts val="4000"/>
              </a:lnSpc>
              <a:buSzPct val="100000"/>
              <a:buChar char="▪"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Bagru Boiz</a:t>
            </a:r>
            <a:endParaRPr lang="en-US" sz="3200" dirty="0"/>
          </a:p>
        </p:txBody>
      </p:sp>
      <p:pic>
        <p:nvPicPr>
          <p:cNvPr id="5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6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828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0" y="1481328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– 11   |   Municipal IoT Scanner – Vulnerability Audit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028700" y="2331720"/>
            <a:ext cx="16230600" cy="7178040"/>
          </a:xfrm>
          <a:prstGeom prst="roundRect">
            <a:avLst>
              <a:gd name="adj" fmla="val 1529"/>
            </a:avLst>
          </a:prstGeom>
          <a:solidFill>
            <a:srgbClr val="57271E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0" y="2788920"/>
            <a:ext cx="1463040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200"/>
              </a:lnSpc>
              <a:spcAft>
                <a:spcPts val="22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smart cities now run thousands of connected devices — traffic signals, smart streetlights, CCTV, water and air-quality sensors, parking meters — installed by different vendors over several years.</a:t>
            </a:r>
            <a:endParaRPr lang="en-US" sz="2500" dirty="0"/>
          </a:p>
          <a:p>
            <a:pPr marL="342900" indent="-342900" algn="l">
              <a:lnSpc>
                <a:spcPts val="3200"/>
              </a:lnSpc>
              <a:spcAft>
                <a:spcPts val="22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devices ship with outdated firmware, default admin credentials, and open management ports — and there is no central inventory of what is even connected.</a:t>
            </a:r>
            <a:endParaRPr lang="en-US" sz="2500" dirty="0"/>
          </a:p>
          <a:p>
            <a:pPr marL="342900" indent="-342900" algn="l">
              <a:lnSpc>
                <a:spcPts val="3200"/>
              </a:lnSpc>
              <a:spcAft>
                <a:spcPts val="22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IT teams have no real-time way to discover these devices or know which ones are exposed to known vulnerabilities.</a:t>
            </a:r>
            <a:endParaRPr lang="en-US" sz="2500" dirty="0"/>
          </a:p>
          <a:p>
            <a:pPr marL="342900" indent="-342900" algn="l">
              <a:lnSpc>
                <a:spcPts val="3200"/>
              </a:lnSpc>
              <a:spcAft>
                <a:spcPts val="22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compromised traffic controller or camera feed can cascade into a public-safety incident — Mirai-style botnets already target exactly this class of device.</a:t>
            </a:r>
            <a:endParaRPr lang="en-US" sz="2500" dirty="0"/>
          </a:p>
          <a:p>
            <a:pPr marL="342900" indent="-342900" algn="l">
              <a:lnSpc>
                <a:spcPts val="3200"/>
              </a:lnSpc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an autonomous platform that continuously discovers municipal IoT assets, audits them against known CVEs and credential hygiene, and triggers a response before attackers do.</a:t>
            </a:r>
            <a:endParaRPr lang="en-US" sz="2500" dirty="0"/>
          </a:p>
        </p:txBody>
      </p:sp>
      <p:pic>
        <p:nvPicPr>
          <p:cNvPr id="7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8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828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6400" dirty="0"/>
          </a:p>
        </p:txBody>
      </p:sp>
      <p:sp>
        <p:nvSpPr>
          <p:cNvPr id="4" name="Shape 1"/>
          <p:cNvSpPr/>
          <p:nvPr/>
        </p:nvSpPr>
        <p:spPr>
          <a:xfrm>
            <a:off x="2338121" y="2651760"/>
            <a:ext cx="6172200" cy="6903720"/>
          </a:xfrm>
          <a:prstGeom prst="roundRect">
            <a:avLst>
              <a:gd name="adj" fmla="val 1778"/>
            </a:avLst>
          </a:prstGeom>
          <a:solidFill>
            <a:srgbClr val="57271E"/>
          </a:solidFill>
          <a:ln/>
        </p:spPr>
      </p:sp>
      <p:sp>
        <p:nvSpPr>
          <p:cNvPr id="5" name="Shape 2"/>
          <p:cNvSpPr/>
          <p:nvPr/>
        </p:nvSpPr>
        <p:spPr>
          <a:xfrm>
            <a:off x="10149840" y="2651760"/>
            <a:ext cx="6029554" cy="6903720"/>
          </a:xfrm>
          <a:prstGeom prst="roundRect">
            <a:avLst>
              <a:gd name="adj" fmla="val 1820"/>
            </a:avLst>
          </a:prstGeom>
          <a:solidFill>
            <a:srgbClr val="57271E"/>
          </a:solidFill>
          <a:ln/>
        </p:spPr>
      </p:sp>
      <p:sp>
        <p:nvSpPr>
          <p:cNvPr id="6" name="Text 3"/>
          <p:cNvSpPr/>
          <p:nvPr/>
        </p:nvSpPr>
        <p:spPr>
          <a:xfrm>
            <a:off x="2889504" y="3154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TechStack :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063240" y="3886200"/>
            <a:ext cx="5074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spcAft>
                <a:spcPts val="2000"/>
              </a:spcAft>
              <a:buSzPct val="100000"/>
              <a:buChar char="●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— Python, Go, TypeScript</a:t>
            </a:r>
            <a:endParaRPr lang="en-US" sz="2100" dirty="0"/>
          </a:p>
          <a:p>
            <a:pPr marL="342900" indent="-342900">
              <a:lnSpc>
                <a:spcPts val="2700"/>
              </a:lnSpc>
              <a:spcAft>
                <a:spcPts val="2000"/>
              </a:spcAft>
              <a:buSzPct val="100000"/>
              <a:buChar char="●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— FastAPI, React + Tailwind, Celery/Redis, Docker</a:t>
            </a:r>
            <a:endParaRPr lang="en-US" sz="2100" dirty="0"/>
          </a:p>
          <a:p>
            <a:pPr marL="342900" indent="-342900">
              <a:lnSpc>
                <a:spcPts val="2700"/>
              </a:lnSpc>
              <a:buSzPct val="100000"/>
              <a:buChar char="●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— PostgreSQL, TimescaleDB, Elasticsearch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698480" y="3154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881360" y="3886200"/>
            <a:ext cx="507492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spcAft>
                <a:spcPts val="2000"/>
              </a:spcAft>
              <a:buSzPct val="100000"/>
              <a:buChar char="●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active + passive IoT discovery, device fingerprinting, CVE correlation, CVSS-based risk scoring, automated alerts</a:t>
            </a:r>
            <a:endParaRPr lang="en-US" sz="2100" dirty="0"/>
          </a:p>
          <a:p>
            <a:pPr marL="342900" indent="-342900">
              <a:lnSpc>
                <a:spcPts val="2700"/>
              </a:lnSpc>
              <a:spcAft>
                <a:spcPts val="2000"/>
              </a:spcAft>
              <a:buSzPct val="100000"/>
              <a:buChar char="●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— Discover → Fingerprint → Match CVEs → Score Risk → Alert / Ticket → Remediate → Re-verify</a:t>
            </a:r>
            <a:endParaRPr lang="en-US" sz="2100" dirty="0"/>
          </a:p>
          <a:p>
            <a:pPr marL="342900" indent="-342900">
              <a:lnSpc>
                <a:spcPts val="2700"/>
              </a:lnSpc>
              <a:buSzPct val="100000"/>
              <a:buChar char="●"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live risk-map dashboard for a simulated city network with one-click isolate / notify actions</a:t>
            </a:r>
            <a:endParaRPr lang="en-US" sz="2100" dirty="0"/>
          </a:p>
        </p:txBody>
      </p:sp>
      <p:pic>
        <p:nvPicPr>
          <p:cNvPr id="10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11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828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Risks</a:t>
            </a:r>
            <a:endParaRPr lang="en-US" sz="6400" dirty="0"/>
          </a:p>
        </p:txBody>
      </p:sp>
      <p:sp>
        <p:nvSpPr>
          <p:cNvPr id="4" name="Shape 1"/>
          <p:cNvSpPr/>
          <p:nvPr/>
        </p:nvSpPr>
        <p:spPr>
          <a:xfrm>
            <a:off x="1028700" y="2331720"/>
            <a:ext cx="16230600" cy="7178040"/>
          </a:xfrm>
          <a:prstGeom prst="roundRect">
            <a:avLst>
              <a:gd name="adj" fmla="val 1529"/>
            </a:avLst>
          </a:prstGeom>
          <a:solidFill>
            <a:srgbClr val="57271E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2788920"/>
            <a:ext cx="1463040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/ negatives in automated vulnerability matching can cause alert fatigue or missed threats.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or proprietary IoT protocols (Zigbee, LoRaWAN, SCADA) have limited scanning support.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scanning must never disrupt live infrastructure — requires rate-limited, "safe-mode" probing.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compliance obligations when handling camera feeds and citizen-facing sensor data.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at city scale across fragmented, inconsistently segmented networks.</a:t>
            </a:r>
            <a:endParaRPr lang="en-US" sz="2500" dirty="0"/>
          </a:p>
          <a:p>
            <a:pPr marL="342900" indent="-342900">
              <a:lnSpc>
                <a:spcPts val="3200"/>
              </a:lnSpc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patches with third-party vendors who control device firmware.</a:t>
            </a:r>
            <a:endParaRPr lang="en-US" sz="2500" dirty="0"/>
          </a:p>
        </p:txBody>
      </p:sp>
      <p:pic>
        <p:nvPicPr>
          <p:cNvPr id="6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7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zoom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828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6400" dirty="0"/>
          </a:p>
        </p:txBody>
      </p:sp>
      <p:sp>
        <p:nvSpPr>
          <p:cNvPr id="4" name="Shape 1"/>
          <p:cNvSpPr/>
          <p:nvPr/>
        </p:nvSpPr>
        <p:spPr>
          <a:xfrm>
            <a:off x="2338121" y="2651760"/>
            <a:ext cx="6172200" cy="6903720"/>
          </a:xfrm>
          <a:prstGeom prst="roundRect">
            <a:avLst>
              <a:gd name="adj" fmla="val 1778"/>
            </a:avLst>
          </a:prstGeom>
          <a:solidFill>
            <a:srgbClr val="57271E"/>
          </a:solidFill>
          <a:ln/>
        </p:spPr>
      </p:sp>
      <p:sp>
        <p:nvSpPr>
          <p:cNvPr id="5" name="Shape 2"/>
          <p:cNvSpPr/>
          <p:nvPr/>
        </p:nvSpPr>
        <p:spPr>
          <a:xfrm>
            <a:off x="10028225" y="2651760"/>
            <a:ext cx="6172200" cy="6903720"/>
          </a:xfrm>
          <a:prstGeom prst="roundRect">
            <a:avLst>
              <a:gd name="adj" fmla="val 1778"/>
            </a:avLst>
          </a:prstGeom>
          <a:solidFill>
            <a:srgbClr val="57271E"/>
          </a:solidFill>
          <a:ln/>
        </p:spPr>
      </p:sp>
      <p:sp>
        <p:nvSpPr>
          <p:cNvPr id="6" name="Text 3"/>
          <p:cNvSpPr/>
          <p:nvPr/>
        </p:nvSpPr>
        <p:spPr>
          <a:xfrm>
            <a:off x="2889504" y="3108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063240" y="3840480"/>
            <a:ext cx="50749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00"/>
              </a:lnSpc>
              <a:spcAft>
                <a:spcPts val="22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visibility into the city's entire IoT attack surface.</a:t>
            </a:r>
            <a:endParaRPr lang="en-US" sz="2200" dirty="0"/>
          </a:p>
          <a:p>
            <a:pPr marL="342900" indent="-342900">
              <a:lnSpc>
                <a:spcPts val="2900"/>
              </a:lnSpc>
              <a:spcAft>
                <a:spcPts val="22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the window attackers have to exploit unpatched devices.</a:t>
            </a:r>
            <a:endParaRPr lang="en-US" sz="2200" dirty="0"/>
          </a:p>
          <a:p>
            <a:pPr marL="342900" indent="-342900">
              <a:lnSpc>
                <a:spcPts val="2900"/>
              </a:lnSpc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prevent incidents such as signal tampering, camera hijacking, or sensor spoofing.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76865" y="31089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759745" y="3840480"/>
            <a:ext cx="50749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900"/>
              </a:lnSpc>
              <a:spcAft>
                <a:spcPts val="22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municipal security teams, with a built-in audit trail.</a:t>
            </a:r>
            <a:endParaRPr lang="en-US" sz="2200" dirty="0"/>
          </a:p>
          <a:p>
            <a:pPr marL="342900" indent="-342900">
              <a:lnSpc>
                <a:spcPts val="2900"/>
              </a:lnSpc>
              <a:spcAft>
                <a:spcPts val="22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manual audit time and cost significantly.</a:t>
            </a:r>
            <a:endParaRPr lang="en-US" sz="2200" dirty="0"/>
          </a:p>
          <a:p>
            <a:pPr marL="342900" indent="-342900">
              <a:lnSpc>
                <a:spcPts val="2900"/>
              </a:lnSpc>
              <a:spcAft>
                <a:spcPts val="2200"/>
              </a:spcAft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any smart-city deployment.</a:t>
            </a:r>
            <a:endParaRPr lang="en-US" sz="2200" dirty="0"/>
          </a:p>
          <a:p>
            <a:pPr marL="342900" indent="-342900">
              <a:lnSpc>
                <a:spcPts val="2900"/>
              </a:lnSpc>
              <a:buSzPct val="100000"/>
              <a:buChar char="●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reactive incident response into proactive risk management.</a:t>
            </a:r>
            <a:endParaRPr lang="en-US" sz="2200" dirty="0"/>
          </a:p>
        </p:txBody>
      </p:sp>
      <p:pic>
        <p:nvPicPr>
          <p:cNvPr id="10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11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"/>
            <a:ext cx="1828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</a:t>
            </a:r>
            <a:endParaRPr lang="en-US" sz="6400" dirty="0"/>
          </a:p>
        </p:txBody>
      </p:sp>
      <p:sp>
        <p:nvSpPr>
          <p:cNvPr id="4" name="Shape 1"/>
          <p:cNvSpPr/>
          <p:nvPr/>
        </p:nvSpPr>
        <p:spPr>
          <a:xfrm>
            <a:off x="1028700" y="2331720"/>
            <a:ext cx="16230600" cy="7178040"/>
          </a:xfrm>
          <a:prstGeom prst="roundRect">
            <a:avLst>
              <a:gd name="adj" fmla="val 1529"/>
            </a:avLst>
          </a:prstGeom>
          <a:solidFill>
            <a:srgbClr val="57271E"/>
          </a:solidFill>
          <a:ln/>
        </p:spPr>
      </p:sp>
      <p:sp>
        <p:nvSpPr>
          <p:cNvPr id="5" name="Text 2"/>
          <p:cNvSpPr/>
          <p:nvPr/>
        </p:nvSpPr>
        <p:spPr>
          <a:xfrm>
            <a:off x="1828800" y="2788920"/>
            <a:ext cx="14630400" cy="6492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IR 8228 — Considerations for Managing Internet of Things (IoT) Cybersecurity Risks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Internet of Things Top 10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/ CVE Database — nvd.nist.gov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Mirai botnet (2016) — large-scale compromise of consumer and municipal IoT devices</a:t>
            </a:r>
            <a:endParaRPr lang="en-US" sz="2500" dirty="0"/>
          </a:p>
          <a:p>
            <a:pPr marL="342900" indent="-342900">
              <a:lnSpc>
                <a:spcPts val="3200"/>
              </a:lnSpc>
              <a:spcAft>
                <a:spcPts val="2400"/>
              </a:spcAft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Oldsmar, Florida water-treatment intrusion (2021) — municipal ICS / IoT attack case study</a:t>
            </a:r>
            <a:endParaRPr lang="en-US" sz="2500" dirty="0"/>
          </a:p>
          <a:p>
            <a:pPr marL="342900" indent="-342900">
              <a:lnSpc>
                <a:spcPts val="3200"/>
              </a:lnSpc>
              <a:buSzPct val="100000"/>
              <a:buChar char="▪"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Shodan and Censys — public research on internet-exposed IoT devices</a:t>
            </a:r>
            <a:endParaRPr lang="en-US" sz="2500" dirty="0"/>
          </a:p>
        </p:txBody>
      </p:sp>
      <p:pic>
        <p:nvPicPr>
          <p:cNvPr id="6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7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tand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840480"/>
            <a:ext cx="1828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you!!</a:t>
            </a:r>
            <a:endParaRPr lang="en-US" sz="11000" dirty="0"/>
          </a:p>
        </p:txBody>
      </p:sp>
      <p:pic>
        <p:nvPicPr>
          <p:cNvPr id="4" name="Image 1" descr="assets/shield_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72" y="-100584"/>
            <a:ext cx="1563624" cy="1389888"/>
          </a:xfrm>
          <a:prstGeom prst="rect">
            <a:avLst/>
          </a:prstGeom>
        </p:spPr>
      </p:pic>
      <p:pic>
        <p:nvPicPr>
          <p:cNvPr id="5" name="Image 2" descr="assets/iiit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2080" y="8540496"/>
            <a:ext cx="1225296" cy="1225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511</Words>
  <Application>Microsoft Office PowerPoint</Application>
  <PresentationFormat>Custom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AKKI SETH</cp:lastModifiedBy>
  <cp:revision>2</cp:revision>
  <dcterms:created xsi:type="dcterms:W3CDTF">2026-08-23T00:43:16Z</dcterms:created>
  <dcterms:modified xsi:type="dcterms:W3CDTF">2026-08-23T00:51:57Z</dcterms:modified>
</cp:coreProperties>
</file>